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Krona One" panose="020B0604020202020204" charset="0"/>
      <p:regular r:id="rId17"/>
    </p:embeddedFont>
    <p:embeddedFont>
      <p:font typeface="Lexend" panose="020B0604020202020204" charset="0"/>
      <p:regular r:id="rId18"/>
    </p:embeddedFont>
    <p:embeddedFont>
      <p:font typeface="Lexend Bold" panose="020B0604020202020204" charset="0"/>
      <p:regular r:id="rId19"/>
    </p:embeddedFont>
    <p:embeddedFont>
      <p:font typeface="Lexend Medium" panose="020B0604020202020204" charset="0"/>
      <p:regular r:id="rId20"/>
    </p:embeddedFont>
    <p:embeddedFont>
      <p:font typeface="Lexend SemiBold" panose="020B0604020202020204" charset="0"/>
      <p:regular r:id="rId21"/>
    </p:embeddedFont>
    <p:embeddedFont>
      <p:font typeface="Martian Mono Medium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8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185545"/>
            <a:ext cx="59180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JAVA PROJECT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534781"/>
            <a:ext cx="5308467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Courier Delivery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Route &amp; Tracking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4327049"/>
            <a:ext cx="530846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5854799"/>
            <a:ext cx="5308467" cy="73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9FB71-4E87-720B-9F5D-A024DF1CE051}"/>
              </a:ext>
            </a:extLst>
          </p:cNvPr>
          <p:cNvSpPr txBox="1"/>
          <p:nvPr/>
        </p:nvSpPr>
        <p:spPr>
          <a:xfrm>
            <a:off x="867747" y="4209704"/>
            <a:ext cx="29140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TEAM MEMBERS :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2620030033 -- T. Varshitha.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2620030147 – K. Moksha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sai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74E4C-4870-95F5-643C-FBAC2619E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250" y="6469346"/>
            <a:ext cx="21947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Six Java modules, one courier workflow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41971"/>
            <a:ext cx="761981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8259" y="1654671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38259" y="2199819"/>
            <a:ext cx="438139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Defines the problem, input, algorithm, data, and console interaction.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1641971"/>
            <a:ext cx="761981" cy="76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00720" y="1654671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2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200720" y="2199819"/>
            <a:ext cx="438139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Controls route decisions, status changes, and repeated stop processing.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269258"/>
            <a:ext cx="761981" cy="762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38259" y="3281958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3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638259" y="3827105"/>
            <a:ext cx="438139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Decomposes the workflow into methods, recursion, and arrays.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046" y="3269258"/>
            <a:ext cx="761981" cy="762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00720" y="3281958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4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200720" y="3827105"/>
            <a:ext cx="438139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Models packages, couriers, and routes with objects, abstraction, and exceptions.</a:t>
            </a:r>
            <a:endParaRPr lang="en-US" sz="1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4896743"/>
            <a:ext cx="761981" cy="762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38259" y="4909443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5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1638259" y="5454590"/>
            <a:ext cx="438139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Handles tracking strings, sorting/searching, and file-based event history.</a:t>
            </a:r>
            <a:endParaRPr lang="en-US" sz="1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046" y="4896743"/>
            <a:ext cx="761981" cy="762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00720" y="4909443"/>
            <a:ext cx="43813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6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7200720" y="5454590"/>
            <a:ext cx="438139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Organizes live data with collections, lambdas, and streams for summaries.</a:t>
            </a:r>
            <a:endParaRPr lang="en-US" sz="1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34D39E-90E2-0504-3C37-8283BC6940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6945" y="6469346"/>
            <a:ext cx="2194750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224"/>
            <a:ext cx="6705432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1 · COMPUTATIONAL THINKING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2086"/>
            <a:ext cx="609584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problem to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1440755"/>
            <a:ext cx="6095848" cy="93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1550"/>
              </a:spcAft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Algorithms and flowcharts shape Java structure.</a:t>
            </a:r>
            <a:endParaRPr lang="en-US" sz="15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Primitives, variables, operators, and expressions support input, route data, calculations, and output.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9585" y="2576016"/>
            <a:ext cx="6095848" cy="4290020"/>
          </a:xfrm>
          <a:prstGeom prst="roundRect">
            <a:avLst>
              <a:gd name="adj" fmla="val 3552"/>
            </a:avLst>
          </a:prstGeom>
          <a:solidFill>
            <a:srgbClr val="1E1F66"/>
          </a:solidFill>
          <a:ln w="25399">
            <a:solidFill>
              <a:srgbClr val="4D4D84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3578" y="2830640"/>
            <a:ext cx="5841854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CONSOLE I/O · VARIABLES + OPERATORS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3578" y="3292971"/>
            <a:ext cx="5587860" cy="3025577"/>
          </a:xfrm>
          <a:prstGeom prst="roundRect">
            <a:avLst>
              <a:gd name="adj" fmla="val 3622"/>
            </a:avLst>
          </a:prstGeom>
          <a:solidFill>
            <a:srgbClr val="1E1F66"/>
          </a:solidFill>
          <a:ln/>
        </p:spPr>
      </p:sp>
      <p:sp>
        <p:nvSpPr>
          <p:cNvPr id="8" name="Text 6"/>
          <p:cNvSpPr/>
          <p:nvPr/>
        </p:nvSpPr>
        <p:spPr>
          <a:xfrm>
            <a:off x="1176606" y="3553817"/>
            <a:ext cx="4961806" cy="250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scanner = new Scanner(System.in);</a:t>
            </a:r>
            <a:endParaRPr lang="en-US" sz="2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id = scanner.nextLine();</a:t>
            </a:r>
            <a:endParaRPr lang="en-US" sz="2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stop = scanner.nextInt() + 1;</a:t>
            </a:r>
            <a:endParaRPr lang="en-US" sz="2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System.out.printf("%s → stop %d%n", id, stop);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oundRect">
            <a:avLst>
              <a:gd name="adj" fmla="val 3125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44588"/>
            <a:ext cx="11582110" cy="139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100" spc="5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2 · CONTROL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711871"/>
            <a:ext cx="10972526" cy="288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50" kern="100" spc="-1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Control flow runs the route logic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585" y="1112380"/>
            <a:ext cx="1158211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 flow turns package conditions into tracking updates.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149" y="1556140"/>
            <a:ext cx="3454314" cy="522763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32" y="1879600"/>
            <a:ext cx="429706" cy="4297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4732" y="2394222"/>
            <a:ext cx="2959026" cy="279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8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Decide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94732" y="2793623"/>
            <a:ext cx="2959026" cy="32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nested-if, and </a:t>
            </a:r>
            <a:r>
              <a:rPr lang="en-US" sz="11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choose delivery actions.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8843" y="1556140"/>
            <a:ext cx="3454314" cy="522763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35" y="1879600"/>
            <a:ext cx="429706" cy="4297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6335" y="2416543"/>
            <a:ext cx="2959026" cy="279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8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Update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6335" y="2791902"/>
            <a:ext cx="2959026" cy="32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exits; </a:t>
            </a:r>
            <a:r>
              <a:rPr lang="en-US" sz="11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skips unavailable stops.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680537" y="1556140"/>
            <a:ext cx="3454314" cy="522763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634" y="1879600"/>
            <a:ext cx="429706" cy="4297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12516" y="2399411"/>
            <a:ext cx="2959026" cy="279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8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Route loop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996634" y="2772208"/>
            <a:ext cx="3206670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 · FOR LOOP + IF/ELSE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805146" y="3540643"/>
            <a:ext cx="2959026" cy="3179961"/>
          </a:xfrm>
          <a:prstGeom prst="roundRect">
            <a:avLst>
              <a:gd name="adj" fmla="val 3050"/>
            </a:avLst>
          </a:prstGeom>
          <a:solidFill>
            <a:srgbClr val="1E1F66"/>
          </a:solidFill>
          <a:ln/>
        </p:spPr>
      </p:sp>
      <p:sp>
        <p:nvSpPr>
          <p:cNvPr id="18" name="Text 13"/>
          <p:cNvSpPr/>
          <p:nvPr/>
        </p:nvSpPr>
        <p:spPr>
          <a:xfrm>
            <a:off x="9063009" y="3755451"/>
            <a:ext cx="2443300" cy="2750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stop : stops) {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(stop.equals(nextStop)) status = "OUT_FOR_DELIVERY";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status = "QUEUED";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145"/>
            <a:ext cx="11582110" cy="144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57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3 · DECOMPOSITION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29849"/>
            <a:ext cx="1097252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50" kern="100" spc="-1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Methods and arrays split the work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09585" y="1287736"/>
            <a:ext cx="11582110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Methods · parameters · return values · recursion · 1D/2D arrays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90576"/>
            <a:ext cx="555016" cy="555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297007"/>
            <a:ext cx="345431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assignRoute()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1590576"/>
            <a:ext cx="555016" cy="5550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2297007"/>
            <a:ext cx="345431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updateStatus()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1590576"/>
            <a:ext cx="555016" cy="5550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7797" y="2297007"/>
            <a:ext cx="345431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findPackage()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09585" y="2686125"/>
            <a:ext cx="11582110" cy="16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Methods isolate project tasks.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09585" y="3000510"/>
            <a:ext cx="5333867" cy="144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57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ARRAYS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09585" y="3234053"/>
            <a:ext cx="5333867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7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1D/2D arrays store stops for traversal, search, sums, and counts.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248244" y="3000510"/>
            <a:ext cx="5333867" cy="144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57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RECURSION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248244" y="3234053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7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a base case and a recursive case.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09585" y="3902012"/>
            <a:ext cx="11582110" cy="144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57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JAVA EXAMPLE · METHODS + ARRAYS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164601" y="4250351"/>
            <a:ext cx="10972526" cy="2575123"/>
          </a:xfrm>
          <a:prstGeom prst="roundRect">
            <a:avLst>
              <a:gd name="adj" fmla="val 3621"/>
            </a:avLst>
          </a:prstGeom>
          <a:solidFill>
            <a:srgbClr val="1E1F66"/>
          </a:solidFill>
          <a:ln/>
        </p:spPr>
      </p:sp>
      <p:sp>
        <p:nvSpPr>
          <p:cNvPr id="18" name="Text 13"/>
          <p:cNvSpPr/>
          <p:nvPr/>
        </p:nvSpPr>
        <p:spPr>
          <a:xfrm>
            <a:off x="1314519" y="4472302"/>
            <a:ext cx="10439734" cy="2131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count(String[] a, String z) {</a:t>
            </a:r>
            <a:endParaRPr lang="en-US" sz="1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 = 0;</a:t>
            </a:r>
            <a:endParaRPr lang="en-US" sz="1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(String s : a) if (s.startsWith(z)) n++;</a:t>
            </a:r>
            <a:endParaRPr lang="en-US" sz="1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n;</a:t>
            </a:r>
            <a:endParaRPr lang="en-US" sz="1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System.out.println(count(new String[]{"A1","B2","A3"}, "A"));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207"/>
            <a:ext cx="75182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69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4 · OBJECT-ORIENTED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1882"/>
            <a:ext cx="6908627" cy="359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Objects create the courier model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09585" y="1478260"/>
            <a:ext cx="751821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Classes · objects · fields · methods · </a:t>
            </a:r>
            <a:r>
              <a:rPr lang="en-US" sz="1250" kern="100" spc="12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50" kern="100" spc="12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constructors · encapsulation · inheritance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585" y="1885950"/>
            <a:ext cx="6908627" cy="158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spcAft>
                <a:spcPts val="1650"/>
              </a:spcAft>
              <a:buNone/>
            </a:pP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Classes model </a:t>
            </a:r>
            <a:r>
              <a:rPr lang="en-US" sz="21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1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Courier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and </a:t>
            </a:r>
            <a:r>
              <a:rPr lang="en-US" sz="21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; objects hold delivery state.</a:t>
            </a:r>
            <a:endParaRPr lang="en-US" sz="2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Abstraction: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1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track()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and </a:t>
            </a:r>
            <a:r>
              <a:rPr lang="en-US" sz="21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deliver()</a:t>
            </a: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hide validation and state updates.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3686175"/>
            <a:ext cx="7518212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12" dirty="0">
                <a:solidFill>
                  <a:srgbClr val="B9BEE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Java · Package class &amp; encapsulation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5" y="4184352"/>
            <a:ext cx="6908627" cy="2679402"/>
          </a:xfrm>
          <a:prstGeom prst="roundRect">
            <a:avLst>
              <a:gd name="adj" fmla="val 4200"/>
            </a:avLst>
          </a:prstGeom>
          <a:solidFill>
            <a:srgbClr val="1E1F66"/>
          </a:solidFill>
          <a:ln/>
        </p:spPr>
      </p:sp>
      <p:sp>
        <p:nvSpPr>
          <p:cNvPr id="8" name="Text 6"/>
          <p:cNvSpPr/>
          <p:nvPr/>
        </p:nvSpPr>
        <p:spPr>
          <a:xfrm>
            <a:off x="931045" y="4452243"/>
            <a:ext cx="6265706" cy="2143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Package {</a:t>
            </a:r>
            <a:endParaRPr lang="en-US" sz="2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String id;</a:t>
            </a:r>
            <a:endParaRPr lang="en-US" sz="2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Package(String id) { this.id = id; }</a:t>
            </a:r>
            <a:endParaRPr lang="en-US" sz="2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track() { return "Tracking " + id; }</a:t>
            </a:r>
            <a:endParaRPr lang="en-US" sz="2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27797" y="0"/>
            <a:ext cx="4063898" cy="6858000"/>
          </a:xfrm>
          <a:prstGeom prst="roundRect">
            <a:avLst>
              <a:gd name="adj" fmla="val 3750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604"/>
            <a:ext cx="1158211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4 · EXCEPTION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3349"/>
            <a:ext cx="10972526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35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Exceptions protect delivery updates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09585" y="1430135"/>
            <a:ext cx="1158211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Visible failures keep route history trustworthy.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345" y="1859092"/>
            <a:ext cx="5333867" cy="4942979"/>
          </a:xfrm>
          <a:prstGeom prst="roundRect">
            <a:avLst>
              <a:gd name="adj" fmla="val 308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21" y="2178537"/>
            <a:ext cx="509277" cy="5092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8021" y="2766292"/>
            <a:ext cx="4838579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Exception toolkit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8021" y="3210826"/>
            <a:ext cx="4838579" cy="643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Checked/unchecked exceptions; </a:t>
            </a:r>
            <a:r>
              <a:rPr lang="en-US" sz="20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try-catch-finally</a:t>
            </a: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; </a:t>
            </a:r>
            <a:r>
              <a:rPr lang="en-US" sz="20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/</a:t>
            </a:r>
            <a:r>
              <a:rPr lang="en-US" sz="20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779789" y="1859091"/>
            <a:ext cx="5333867" cy="4942979"/>
          </a:xfrm>
          <a:prstGeom prst="roundRect">
            <a:avLst>
              <a:gd name="adj" fmla="val 308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42336" y="2168554"/>
            <a:ext cx="508622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5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STATUS UPDATE · TRY/CATCH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42336" y="2450776"/>
            <a:ext cx="483857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Reject invalid changes without losing history.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167691" y="3081807"/>
            <a:ext cx="4838579" cy="2954139"/>
          </a:xfrm>
          <a:prstGeom prst="roundRect">
            <a:avLst>
              <a:gd name="adj" fmla="val 3621"/>
            </a:avLst>
          </a:prstGeom>
          <a:solidFill>
            <a:srgbClr val="1E1F66"/>
          </a:solidFill>
          <a:ln/>
        </p:spPr>
      </p:sp>
      <p:sp>
        <p:nvSpPr>
          <p:cNvPr id="13" name="Text 10"/>
          <p:cNvSpPr/>
          <p:nvPr/>
        </p:nvSpPr>
        <p:spPr>
          <a:xfrm>
            <a:off x="7333018" y="3210826"/>
            <a:ext cx="4227407" cy="244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updateStatus(id, "DELIVERED");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(IllegalArgumentException e) {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log(e.getMessage());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348"/>
            <a:ext cx="7111822" cy="139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100" spc="5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5 · TEXT, ALGORITHMS, FILE I/O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20665"/>
            <a:ext cx="650223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50" kern="100" spc="-1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Strings and files store the route history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585" y="1258680"/>
            <a:ext cx="7111822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Text becomes ordered records and a reusable event log.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1630065"/>
            <a:ext cx="86596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1930499"/>
            <a:ext cx="1396965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086783"/>
            <a:ext cx="13969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Parse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2430057"/>
            <a:ext cx="1396965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trimming, indexing, and validation read records.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11342" y="1630065"/>
            <a:ext cx="86724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311342" y="1930499"/>
            <a:ext cx="1396965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1" name="Text 9"/>
          <p:cNvSpPr/>
          <p:nvPr/>
        </p:nvSpPr>
        <p:spPr>
          <a:xfrm>
            <a:off x="2311342" y="2086783"/>
            <a:ext cx="13969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11342" y="2430057"/>
            <a:ext cx="1396965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equals()</a:t>
            </a: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checks IDs correctly; </a:t>
            </a:r>
            <a:r>
              <a:rPr lang="en-US" sz="17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does not replace it.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13100" y="1630065"/>
            <a:ext cx="8722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013100" y="1930499"/>
            <a:ext cx="1396965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Text 13"/>
          <p:cNvSpPr/>
          <p:nvPr/>
        </p:nvSpPr>
        <p:spPr>
          <a:xfrm>
            <a:off x="4013100" y="2086783"/>
            <a:ext cx="13969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Order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13100" y="2430057"/>
            <a:ext cx="1396965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Sort packages with arrays, collections, or comparators.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14857" y="1630065"/>
            <a:ext cx="8886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878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14857" y="1930499"/>
            <a:ext cx="1396965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9" name="Text 17"/>
          <p:cNvSpPr/>
          <p:nvPr/>
        </p:nvSpPr>
        <p:spPr>
          <a:xfrm>
            <a:off x="5714857" y="2086783"/>
            <a:ext cx="13969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-7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Persist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4857" y="2430057"/>
            <a:ext cx="1396965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/</a:t>
            </a:r>
            <a:r>
              <a:rPr lang="en-US" sz="17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7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append and save history.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585" y="4042658"/>
            <a:ext cx="7111822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Malformed records should not break the complete log.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585" y="4346524"/>
            <a:ext cx="7111822" cy="139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100" spc="5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JAVA · STRING PARSING + FILE I/O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585" y="4714677"/>
            <a:ext cx="6502237" cy="2145705"/>
          </a:xfrm>
          <a:prstGeom prst="roundRect">
            <a:avLst>
              <a:gd name="adj" fmla="val 4201"/>
            </a:avLst>
          </a:prstGeom>
          <a:solidFill>
            <a:srgbClr val="1E1F66"/>
          </a:solidFill>
          <a:ln/>
        </p:spPr>
      </p:sp>
      <p:sp>
        <p:nvSpPr>
          <p:cNvPr id="24" name="Text 22"/>
          <p:cNvSpPr/>
          <p:nvPr/>
        </p:nvSpPr>
        <p:spPr>
          <a:xfrm>
            <a:off x="714654" y="4849506"/>
            <a:ext cx="5987305" cy="171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 = "PKG-42|OUT_FOR_DELIVERY".split("\\\\|");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log = Path.of("route.log");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Files.writeString(log, p[0] + " " + p[1] + "\n", CREATE, APPEND);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System.out.println(Files.readString(log));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21407" y="0"/>
            <a:ext cx="4470288" cy="6858000"/>
          </a:xfrm>
          <a:prstGeom prst="roundRect">
            <a:avLst>
              <a:gd name="adj" fmla="val 3409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6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MODULE 6 · COLLECTIONS &amp; STREAMS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48253"/>
            <a:ext cx="10972526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50" kern="100" spc="-11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Collections and streams summarize tracking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09585" y="1568615"/>
            <a:ext cx="5333867" cy="56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for ordered packages,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for unique stops, and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for package statuses.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09585" y="2240887"/>
            <a:ext cx="5333867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Generics, iterators, lambdas, and functional interfaces support live data.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8244" y="1336278"/>
            <a:ext cx="5943451" cy="5519241"/>
          </a:xfrm>
          <a:prstGeom prst="roundRect">
            <a:avLst>
              <a:gd name="adj" fmla="val 1861"/>
            </a:avLst>
          </a:prstGeom>
          <a:solidFill>
            <a:srgbClr val="1E1F66"/>
          </a:solidFill>
          <a:ln w="25399">
            <a:solidFill>
              <a:srgbClr val="4D4D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2237" y="1590278"/>
            <a:ext cx="5079873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6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STREAM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02237" y="1854563"/>
            <a:ext cx="5079873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filter → map → sorted → distinct → collect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02237" y="2240855"/>
            <a:ext cx="5079873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6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SUMMARY OPERATIONS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02237" y="2505140"/>
            <a:ext cx="4825879" cy="56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counting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joining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and </a:t>
            </a:r>
            <a:r>
              <a:rPr lang="en-US" sz="18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r>
              <a:rPr lang="en-US" sz="18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for route reports.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502237" y="3174603"/>
            <a:ext cx="5079873" cy="153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6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TYPED COLLECTION + STREAM 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02237" y="3594199"/>
            <a:ext cx="4825879" cy="2741414"/>
          </a:xfrm>
          <a:prstGeom prst="roundRect">
            <a:avLst>
              <a:gd name="adj" fmla="val 3621"/>
            </a:avLst>
          </a:prstGeom>
          <a:solidFill>
            <a:srgbClr val="1E1F66"/>
          </a:solidFill>
          <a:ln/>
        </p:spPr>
      </p:sp>
      <p:sp>
        <p:nvSpPr>
          <p:cNvPr id="13" name="Text 11"/>
          <p:cNvSpPr/>
          <p:nvPr/>
        </p:nvSpPr>
        <p:spPr>
          <a:xfrm>
            <a:off x="6785797" y="3831234"/>
            <a:ext cx="4258759" cy="226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 = List.of("DELIVERED", "IN_TRANSIT", "DELIVERED");</a:t>
            </a:r>
            <a:endParaRPr lang="en-US" sz="1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delivered = s.stream().filter("DELIVERED"::equals).count();</a:t>
            </a:r>
            <a:endParaRPr lang="en-US" sz="1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System.out.println(delivered);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END-TO-END MODULE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input to tracking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4671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99819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Define data and read input.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19489" y="1654671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19489" y="2199819"/>
            <a:ext cx="335271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Make route and status decisions.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76998" y="1654671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76998" y="2199819"/>
            <a:ext cx="35051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Divide tasks into methods and arrays.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3125887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3671034"/>
            <a:ext cx="350511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Hide complexity behind objects and abstraction; handle exceptions.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19489" y="3125887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9489" y="3671034"/>
            <a:ext cx="335271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Parse, sort, search, and persist tracking events.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76998" y="3125887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Module 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76998" y="3671034"/>
            <a:ext cx="35051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Collect, filter, and summarize live delivery data.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585" y="487836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FINAL CODE IDEA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585" y="5341838"/>
            <a:ext cx="11582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Map&lt;String,String&gt; statusById = new HashMap&lt;&gt;();</a:t>
            </a:r>
            <a:endParaRPr 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767BFB-B8F7-EA76-1FAF-0C83C81C9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945" y="6463827"/>
            <a:ext cx="2194750" cy="388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952</Words>
  <Application>Microsoft Office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Lexend</vt:lpstr>
      <vt:lpstr>Lexend SemiBold</vt:lpstr>
      <vt:lpstr>Lexend Bold</vt:lpstr>
      <vt:lpstr>Consolas</vt:lpstr>
      <vt:lpstr>Krona One</vt:lpstr>
      <vt:lpstr>Lexend Medium</vt:lpstr>
      <vt:lpstr>Martian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Moksha Sai Kommineni</cp:lastModifiedBy>
  <cp:revision>2</cp:revision>
  <dcterms:created xsi:type="dcterms:W3CDTF">2026-10-12T05:49:50Z</dcterms:created>
  <dcterms:modified xsi:type="dcterms:W3CDTF">2026-10-12T06:14:07Z</dcterms:modified>
</cp:coreProperties>
</file>